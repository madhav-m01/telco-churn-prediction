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5"/>
  </p:notesMasterIdLst>
  <p:sldIdLst>
    <p:sldId id="256" r:id="rId2"/>
    <p:sldId id="257" r:id="rId3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975D4-42D0-46A2-AE49-3BAF6031AC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6E31-65C6-4CFD-B7F3-A471CDCC2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3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BE6A-5809-EF8F-DC29-5155E5C97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8A93C-3F35-4512-13F9-D112217AD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B958-9E9F-18FD-FA43-952D47A5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7DF4-80F4-4B14-A37F-13121F91402D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D3EE-8B4F-0D49-96D1-19463842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7F1F5-D5FE-A95D-89A3-B08647CB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E7B2-3F39-2306-D19B-B7FB048E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E531-5BE4-9FFC-390B-EBA85EABE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F60C-27B0-4684-AF8C-D0A28C0B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F27-ECA9-4E5A-99ED-68B9BBE406FA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0CF0B-2BC0-F319-8E54-B3397B37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AFBB-2B8C-B9E5-777F-A7128B96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35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6F6F-7C51-8118-DC6B-94596130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ECD11-23EF-A0B5-29B1-B78920FE9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F784-0337-8B9D-D15F-B9B14F72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9FD7-0378-45C3-AD97-19A4232A4415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550EF-A877-69F3-8CA1-4C32B24E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4DE8-1441-2397-3546-3638F4DE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2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8486-BC4E-3040-9464-552B0B3D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E4E2-72CE-A45A-A5E1-800490745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DFA97-5002-9D4C-3497-3F49E417B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DDF9A-8109-A6AA-5165-B9CD8A5B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AE71-8B09-4DF5-B479-EF10DE791AF0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BDEAE-B0F0-4E17-D61D-3427C7E9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5155-8299-2348-8B09-E63D2877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4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2745-2212-4246-5420-11A3C266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3FEAD-9C0B-2054-7166-BAE6C8305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B2687-467B-ADC6-9B1F-D5709B57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B98B5-1CBC-A093-BD48-555498690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9A94E-7A1A-4660-34E4-68192B354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9C5C6-35D9-62CD-D30E-C1622969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EBA37-803D-4200-B76D-53F6A0A3D823}" type="datetime1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0B40E-52B8-A98F-BBEC-87BFA783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FFE70-07EF-D0E8-DC83-93D46380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6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6E4D-9A23-B3FB-2A1C-DB1413F1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8E836-3DE7-3914-3AB4-282AC44C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D754-E4B9-4C35-B05C-98E3AD3A5029}" type="datetime1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42763-9354-593A-6FE0-A11F3855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4DE3A-8F69-DA9D-B107-9C245CF4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8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9D043-2F16-5843-9230-6437034B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12C8-BA22-47AD-957B-1881A74E0B57}" type="datetime1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A001E-7703-BDC9-1BE6-1AFADFF8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AB87-3CC7-67B5-67F5-223CD042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52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9911-3F60-BD4D-748E-E2EBD624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6F8F-CB98-92F7-76D3-3FF2E31F1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63BC5-4087-52E8-33D8-AD1F27ED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F24F4-A4B0-F785-E46C-CF6C3E83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5BA0D-E9F2-4C7C-AEAD-646D659575C7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C37C9-A984-EBE7-C3FF-06F2D0FB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B60C-34D5-F400-6DA0-E0A25451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3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B023-F6F6-3427-69B6-D3351E6C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0CB14-AB37-CD60-6C23-D6551973F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6C5ED-0005-82E7-F80E-8FCA189D9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3BCD-E4BF-F4DB-83A5-DA6481C4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9E3E-2751-414E-9E81-EB8E2097EF8F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93EFA-6409-2371-2EBA-56B51CBE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1809C-36C5-ECDA-F224-57CD9A74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9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03DE-436B-10E6-DD6C-6F9DD491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6E498-E29C-CED5-CB9A-077F27BDB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0D69-C890-1361-0CF1-F2F02494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41BB-2C22-4126-A864-22391F8015CE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2C6AA-572A-9783-28E7-FC64EC7E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90363-9CA0-9C73-E960-DE93183C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2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B2EF5-CF74-BEA7-DD00-1436DEA5F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CB865-97DB-EBD1-FA75-B98201559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02B5-171A-6F65-977F-E7C0C83A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10BC-4C77-435D-B2F9-5D9DF95CE159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959E2-36D8-5382-1660-E2C2E46A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33E90-0380-2362-852E-D769B080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083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4521A-6189-CEEC-44DB-11C76873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A0FAE-DBCB-A6D0-EDE8-9CC77A851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F4C2-8335-09D2-4B18-A9564AF38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AC4EF-7C55-4828-A98E-EAED1479FF81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0F9B-7734-9BB9-E5AF-CB151C562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CA8B3-9863-816D-01A3-61F1A9C13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7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98B1-4EEA-EE78-5006-150B522A1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943" y="1618189"/>
            <a:ext cx="11127129" cy="153441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</a:p>
          <a:p>
            <a:r>
              <a:rPr sz="3400" b="1">
                <a:solidFill>
                  <a:srgbClr val="1F497D"/>
                </a:solidFill>
              </a:rPr>
              <a:t>Telco Customer Churn Prediction</a:t>
            </a:r>
          </a:p>
          <a:p>
            <a:r>
              <a:rPr sz="2000">
                <a:solidFill>
                  <a:srgbClr val="2E74B5"/>
                </a:solidFill>
              </a:rPr>
              <a:t>End-to-End Production-Grade ML Pipeline
with AI-Powered Explainability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74033-1727-BB8E-7563-7B654DC3B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429000"/>
            <a:ext cx="9144000" cy="1202776"/>
          </a:xfrm>
        </p:spPr>
        <p:txBody>
          <a:bodyPr>
            <a:normAutofit/>
          </a:bodyPr>
          <a:lstStyle/>
          <a:p>
            <a:pPr algn="ctr"/>
          </a:p>
          <a:p>
            <a:r>
              <a:rPr sz="1400" b="1">
                <a:solidFill>
                  <a:srgbClr val="262626"/>
                </a:solidFill>
              </a:rPr>
              <a:t>Presented by:</a:t>
            </a:r>
          </a:p>
          <a:p>
            <a:r>
              <a:rPr sz="1300" b="0">
                <a:solidFill>
                  <a:srgbClr val="404040"/>
                </a:solidFill>
              </a:rPr>
              <a:t>CHIRAG KUMAR  (UI23EC14)</a:t>
            </a:r>
          </a:p>
          <a:p>
            <a:r>
              <a:rPr sz="1300" b="0">
                <a:solidFill>
                  <a:srgbClr val="404040"/>
                </a:solidFill>
              </a:rPr>
              <a:t>MADHAV BAGRI  (UI23EC32)</a:t>
            </a:r>
          </a:p>
          <a:p>
            <a:r>
              <a:rPr sz="1300" b="0">
                <a:solidFill>
                  <a:srgbClr val="404040"/>
                </a:solidFill>
              </a:rPr>
              <a:t>PRATEEK SHINGH  (UI23EC44)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9531F-EAA7-A982-6C2D-7E5AFDCB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99" y="83776"/>
            <a:ext cx="10509812" cy="1527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E1615-0791-4948-5D82-8C588773254E}"/>
              </a:ext>
            </a:extLst>
          </p:cNvPr>
          <p:cNvSpPr txBox="1"/>
          <p:nvPr/>
        </p:nvSpPr>
        <p:spPr>
          <a:xfrm>
            <a:off x="2186796" y="6421122"/>
            <a:ext cx="8389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  <a:p>
            <a:pPr algn="ctr"/>
            <a:r>
              <a:rPr sz="1200" b="1">
                <a:solidFill>
                  <a:srgbClr val="FFFFFF"/>
                </a:solidFill>
              </a:rPr>
              <a:t>Department of Electronics and Communication Engineering  |  IIIT Surat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3622A-5064-713A-FA97-E4582EFAB81B}"/>
              </a:ext>
            </a:extLst>
          </p:cNvPr>
          <p:cNvSpPr txBox="1"/>
          <p:nvPr/>
        </p:nvSpPr>
        <p:spPr>
          <a:xfrm>
            <a:off x="4964054" y="5607776"/>
            <a:ext cx="28167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  <a:p>
            <a:pPr algn="ctr"/>
            <a:r>
              <a:rPr sz="1300" b="1">
                <a:solidFill>
                  <a:srgbClr val="262626"/>
                </a:solidFill>
              </a:rPr>
              <a:t>Under the Guidance of</a:t>
            </a:r>
          </a:p>
          <a:p>
            <a:pPr algn="ctr"/>
            <a:r>
              <a:rPr sz="1300" b="0">
                <a:solidFill>
                  <a:srgbClr val="262626"/>
                </a:solidFill>
              </a:rPr>
              <a:t>Dr. Sudeep Sharma</a:t>
            </a:r>
          </a:p>
          <a:p>
            <a:pPr algn="ctr"/>
            <a:r>
              <a:rPr sz="1100" b="0">
                <a:solidFill>
                  <a:srgbClr val="404040"/>
                </a:solidFill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425607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30536E-78FA-60EB-0E0C-E423827F7B0C}"/>
              </a:ext>
            </a:extLst>
          </p:cNvPr>
          <p:cNvSpPr txBox="1"/>
          <p:nvPr/>
        </p:nvSpPr>
        <p:spPr>
          <a:xfrm>
            <a:off x="1238491" y="1502110"/>
            <a:ext cx="103509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r>
              <a:rPr sz="2400" b="1">
                <a:solidFill>
                  <a:srgbClr val="1F497D"/>
                </a:solidFill>
              </a:rPr>
              <a:t>Outline of Presentation</a:t>
            </a:r>
          </a:p>
          <a:p>
            <a:r>
              <a:rPr sz="1500">
                <a:solidFill>
                  <a:srgbClr val="404040"/>
                </a:solidFill>
              </a:rPr>
              <a:t>1.   Introduction &amp; Motivation</a:t>
            </a:r>
          </a:p>
          <a:p>
            <a:r>
              <a:rPr sz="1500">
                <a:solidFill>
                  <a:srgbClr val="404040"/>
                </a:solidFill>
              </a:rPr>
              <a:t>2.   Business Problem Formulation</a:t>
            </a:r>
          </a:p>
          <a:p>
            <a:r>
              <a:rPr sz="1500">
                <a:solidFill>
                  <a:srgbClr val="404040"/>
                </a:solidFill>
              </a:rPr>
              <a:t>3.   Dataset Overview</a:t>
            </a:r>
          </a:p>
          <a:p>
            <a:r>
              <a:rPr sz="1500">
                <a:solidFill>
                  <a:srgbClr val="404040"/>
                </a:solidFill>
              </a:rPr>
              <a:t>4.   ML Pipeline Architecture</a:t>
            </a:r>
          </a:p>
          <a:p>
            <a:r>
              <a:rPr sz="1500">
                <a:solidFill>
                  <a:srgbClr val="404040"/>
                </a:solidFill>
              </a:rPr>
              <a:t>5.   Feature Engineering</a:t>
            </a:r>
          </a:p>
          <a:p>
            <a:r>
              <a:rPr sz="1500">
                <a:solidFill>
                  <a:srgbClr val="404040"/>
                </a:solidFill>
              </a:rPr>
              <a:t>6.   Handling Class Imbalance</a:t>
            </a:r>
          </a:p>
          <a:p>
            <a:r>
              <a:rPr sz="1500">
                <a:solidFill>
                  <a:srgbClr val="404040"/>
                </a:solidFill>
              </a:rPr>
              <a:t>7.   Model Development (Optuna Tuning)</a:t>
            </a:r>
          </a:p>
          <a:p>
            <a:r>
              <a:rPr sz="1500">
                <a:solidFill>
                  <a:srgbClr val="404040"/>
                </a:solidFill>
              </a:rPr>
              <a:t>8.   Ensemble &amp; Probability Calibration</a:t>
            </a:r>
          </a:p>
          <a:p>
            <a:r>
              <a:rPr sz="1500">
                <a:solidFill>
                  <a:srgbClr val="404040"/>
                </a:solidFill>
              </a:rPr>
              <a:t>9.   Results &amp; Model Comparison</a:t>
            </a:r>
          </a:p>
          <a:p>
            <a:r>
              <a:rPr sz="1500">
                <a:solidFill>
                  <a:srgbClr val="404040"/>
                </a:solidFill>
              </a:rPr>
              <a:t>10.  SHAP Explainability</a:t>
            </a:r>
          </a:p>
          <a:p>
            <a:r>
              <a:rPr sz="1500">
                <a:solidFill>
                  <a:srgbClr val="404040"/>
                </a:solidFill>
              </a:rPr>
              <a:t>11.  Deployment - Streamlit Chatbot</a:t>
            </a:r>
          </a:p>
          <a:p>
            <a:r>
              <a:rPr sz="1500">
                <a:solidFill>
                  <a:srgbClr val="404040"/>
                </a:solidFill>
              </a:rPr>
              <a:t>12.  Conclusion &amp; Future 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9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84C92E-E448-8BB0-DDE3-CAE41124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0" y="2103120"/>
            <a:ext cx="8531352" cy="20116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8348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[1] Akiba et al., "Optuna," KDD 2019.   [2] Lundberg &amp; Lee, "SHAP," NeurIPS 2017.   [3] Chawla et al., "SMOTE," JAIR 2002.   [4] Chen &amp; Guestrin, "XGBoost," KDD 2016.   [5] Ke et al., "LightGBM," NeurIPS 2017.   [6] Reichheld &amp; Schefter, "E-Loyalty," HBR 2000.</a:t>
            </a:r>
          </a:p>
        </p:txBody>
      </p:sp>
    </p:spTree>
    <p:extLst>
      <p:ext uri="{BB962C8B-B14F-4D97-AF65-F5344CB8AC3E}">
        <p14:creationId xmlns:p14="http://schemas.microsoft.com/office/powerpoint/2010/main" val="306016206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Introduction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What is Customer Churn?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  &gt;&gt;  Customer churn = customers discontinuing telecom service</a:t>
            </a:r>
          </a:p>
          <a:p>
            <a:r>
              <a:rPr sz="1400" b="0">
                <a:solidFill>
                  <a:srgbClr val="404040"/>
                </a:solidFill>
              </a:rPr>
              <a:t>  &gt;&gt;  Replacing a lost customer costs 5-25x more than retaining one  (Harvard Business Review)</a:t>
            </a:r>
          </a:p>
          <a:p>
            <a:r>
              <a:rPr sz="1400" b="0">
                <a:solidFill>
                  <a:srgbClr val="404040"/>
                </a:solidFill>
              </a:rPr>
              <a:t>  &gt;&gt;  Early churn prediction enables targeted retention and reduced revenue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Research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  &gt;&gt;  Build a production-ready pipeline with ZERO data leakage</a:t>
            </a:r>
          </a:p>
          <a:p>
            <a:r>
              <a:rPr sz="1400" b="0">
                <a:solidFill>
                  <a:srgbClr val="404040"/>
                </a:solidFill>
              </a:rPr>
              <a:t>  &gt;&gt;  Optimize for business impact - not just accuracy</a:t>
            </a:r>
          </a:p>
          <a:p>
            <a:r>
              <a:rPr sz="1400" b="0">
                <a:solidFill>
                  <a:srgbClr val="404040"/>
                </a:solidFill>
              </a:rPr>
              <a:t>  &gt;&gt;  Reflect asymmetric cost structure: FN costs 10x more than FP</a:t>
            </a:r>
          </a:p>
          <a:p>
            <a:r>
              <a:rPr sz="1400" b="0">
                <a:solidFill>
                  <a:srgbClr val="404040"/>
                </a:solidFill>
              </a:rPr>
              <a:t>  &gt;&gt;  Deliver interpretable, actionable predictions via SHAP + AI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4B5"/>
                </a:solidFill>
              </a:rPr>
              <a:t>Dataset: IBM Telco Customer Churn  |  7,043 customers  |  21 raw features  |  26.5% churn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Business Problem Formulation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Cost Parameters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103120"/>
          <a:ext cx="5669279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787"/>
                <a:gridCol w="2180492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Avg. Monthly Revenue /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$64.76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Cost of Missing a Churner (FN)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Cost of False Alarm (FP)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FN : FP Cost 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10 :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Retention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Dataset 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7,043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Churn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~26.5%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0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Optimization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</a:rPr>
              <a:t>Expected Value (EV) per user: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  EV = TP x (0.30 x $500 - $50) - FN x $500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2468880" cy="1005840"/>
          </a:xfrm>
          <a:prstGeom prst="rect">
            <a:avLst/>
          </a:prstGeom>
          <a:solidFill>
            <a:srgbClr val="FFD7D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377440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</a:rPr>
              <a:t>FALSE 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22852"/>
            <a:ext cx="2377440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</a:rPr>
              <a:t>$500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200400"/>
            <a:ext cx="2468880" cy="1005840"/>
          </a:xfrm>
          <a:prstGeom prst="rect">
            <a:avLst/>
          </a:prstGeom>
          <a:solidFill>
            <a:srgbClr val="FFF3CD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246120"/>
            <a:ext cx="2377440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</a:rPr>
              <a:t>FALSE 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622852"/>
            <a:ext cx="2377440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</a:rPr>
              <a:t>$50 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43400"/>
            <a:ext cx="5029200" cy="91440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8912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COST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27448"/>
            <a:ext cx="4937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10 : 1  =&gt;  Maximize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Key Insight: Missing a real churner is 10x more costly than a false alarm. Model heavily optimizes Recall over Precision.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Dataset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560320" cy="100584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2468879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59812"/>
            <a:ext cx="2468879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7,043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737360"/>
            <a:ext cx="2560320" cy="100584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79" y="1783080"/>
            <a:ext cx="2468879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RAW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2159812"/>
            <a:ext cx="2468879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737360"/>
            <a:ext cx="2560320" cy="100584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783080"/>
            <a:ext cx="2468879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CHURN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159812"/>
            <a:ext cx="2468879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26.5%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737360"/>
            <a:ext cx="2560320" cy="100584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783080"/>
            <a:ext cx="2468879" cy="422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CLASS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59812"/>
            <a:ext cx="2468879" cy="583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73 :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80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Feature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918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97D"/>
                </a:solidFill>
              </a:rPr>
              <a:t>Demographics</a:t>
            </a:r>
          </a:p>
          <a:p>
            <a:r>
              <a:rPr sz="1300" b="0">
                <a:solidFill>
                  <a:srgbClr val="404040"/>
                </a:solidFill>
              </a:rPr>
              <a:t>  &gt;&gt;  Gender, Senior Citizen, Partner, Dependents</a:t>
            </a:r>
          </a:p>
          <a:p>
            <a:r>
              <a:rPr sz="1600" b="1">
                <a:solidFill>
                  <a:srgbClr val="1F497D"/>
                </a:solidFill>
              </a:rPr>
              <a:t>Service Subscriptions</a:t>
            </a:r>
          </a:p>
          <a:p>
            <a:r>
              <a:rPr sz="1300" b="0">
                <a:solidFill>
                  <a:srgbClr val="404040"/>
                </a:solidFill>
              </a:rPr>
              <a:t>  &gt;&gt;  Phone, Internet, MultipleLines, Add-ons (x6)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2918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97D"/>
                </a:solidFill>
              </a:rPr>
              <a:t>Contract &amp; Billing</a:t>
            </a:r>
          </a:p>
          <a:p>
            <a:r>
              <a:rPr sz="1300" b="0">
                <a:solidFill>
                  <a:srgbClr val="404040"/>
                </a:solidFill>
              </a:rPr>
              <a:t>  &gt;&gt;  Contract Type, Paperless Billing, Payment Method</a:t>
            </a:r>
          </a:p>
          <a:p>
            <a:r>
              <a:rPr sz="1600" b="1">
                <a:solidFill>
                  <a:srgbClr val="1F497D"/>
                </a:solidFill>
              </a:rPr>
              <a:t>Charges</a:t>
            </a:r>
          </a:p>
          <a:p>
            <a:r>
              <a:rPr sz="1300" b="0">
                <a:solidFill>
                  <a:srgbClr val="404040"/>
                </a:solidFill>
              </a:rPr>
              <a:t>  &gt;&gt;  MonthlyCharges, TotalCharges, Tenure (months)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00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Stratified 3-Way Split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5212080"/>
          <a:ext cx="64008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280160"/>
                <a:gridCol w="1280160"/>
                <a:gridCol w="21336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Proportion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Model training +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1,057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Calibration + threshold 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1,057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Final held-out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ML Pipeline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1874519"/>
            <a:ext cx="1719072" cy="73152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Raw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205740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14" name="Oval 13"/>
          <p:cNvSpPr/>
          <p:nvPr/>
        </p:nvSpPr>
        <p:spPr>
          <a:xfrm>
            <a:off x="2125979" y="1874519"/>
            <a:ext cx="1719072" cy="73152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5979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5052" y="205740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17" name="Oval 16"/>
          <p:cNvSpPr/>
          <p:nvPr/>
        </p:nvSpPr>
        <p:spPr>
          <a:xfrm>
            <a:off x="3931920" y="1874519"/>
            <a:ext cx="1719072" cy="73152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05740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20" name="Oval 19"/>
          <p:cNvSpPr/>
          <p:nvPr/>
        </p:nvSpPr>
        <p:spPr>
          <a:xfrm>
            <a:off x="5737859" y="1874519"/>
            <a:ext cx="1719072" cy="73152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7859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3-Way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6931" y="205740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23" name="Oval 22"/>
          <p:cNvSpPr/>
          <p:nvPr/>
        </p:nvSpPr>
        <p:spPr>
          <a:xfrm>
            <a:off x="7543800" y="1874519"/>
            <a:ext cx="1719072" cy="73152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Baseline Ladder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05740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26" name="Oval 25"/>
          <p:cNvSpPr/>
          <p:nvPr/>
        </p:nvSpPr>
        <p:spPr>
          <a:xfrm>
            <a:off x="9349740" y="1874519"/>
            <a:ext cx="1719072" cy="73152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9740" y="1874519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Optuna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1964" y="2011679"/>
            <a:ext cx="457200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v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" y="2971800"/>
            <a:ext cx="1719072" cy="731520"/>
          </a:xfrm>
          <a:prstGeom prst="ellipse">
            <a:avLst/>
          </a:prstGeom>
          <a:solidFill>
            <a:srgbClr val="3786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Deploy Chatbot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315468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32" name="Oval 31"/>
          <p:cNvSpPr/>
          <p:nvPr/>
        </p:nvSpPr>
        <p:spPr>
          <a:xfrm>
            <a:off x="2125979" y="2971800"/>
            <a:ext cx="1719072" cy="731520"/>
          </a:xfrm>
          <a:prstGeom prst="ellipse">
            <a:avLst/>
          </a:prstGeom>
          <a:solidFill>
            <a:srgbClr val="3786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25979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SHAP Explain.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5052" y="315468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35" name="Oval 34"/>
          <p:cNvSpPr/>
          <p:nvPr/>
        </p:nvSpPr>
        <p:spPr>
          <a:xfrm>
            <a:off x="3931920" y="2971800"/>
            <a:ext cx="1719072" cy="731520"/>
          </a:xfrm>
          <a:prstGeom prst="ellipse">
            <a:avLst/>
          </a:prstGeom>
          <a:solidFill>
            <a:srgbClr val="3786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315468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38" name="Oval 37"/>
          <p:cNvSpPr/>
          <p:nvPr/>
        </p:nvSpPr>
        <p:spPr>
          <a:xfrm>
            <a:off x="5737859" y="2971800"/>
            <a:ext cx="1719072" cy="731520"/>
          </a:xfrm>
          <a:prstGeom prst="ellipse">
            <a:avLst/>
          </a:prstGeom>
          <a:solidFill>
            <a:srgbClr val="5C2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37859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Threshold Select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6931" y="315468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41" name="Oval 40"/>
          <p:cNvSpPr/>
          <p:nvPr/>
        </p:nvSpPr>
        <p:spPr>
          <a:xfrm>
            <a:off x="7543800" y="2971800"/>
            <a:ext cx="1719072" cy="731520"/>
          </a:xfrm>
          <a:prstGeom prst="ellipse">
            <a:avLst/>
          </a:prstGeom>
          <a:solidFill>
            <a:srgbClr val="5C2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Calibration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3154680"/>
            <a:ext cx="868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&lt;</a:t>
            </a:r>
          </a:p>
        </p:txBody>
      </p:sp>
      <p:sp>
        <p:nvSpPr>
          <p:cNvPr id="44" name="Oval 43"/>
          <p:cNvSpPr/>
          <p:nvPr/>
        </p:nvSpPr>
        <p:spPr>
          <a:xfrm>
            <a:off x="9349740" y="2971800"/>
            <a:ext cx="1719072" cy="73152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9740" y="297180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Ensembling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Legend: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4224528"/>
            <a:ext cx="201168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53312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Data Prep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4224528"/>
            <a:ext cx="201168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5072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Modeling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224528"/>
            <a:ext cx="201168" cy="201168"/>
          </a:xfrm>
          <a:prstGeom prst="rect">
            <a:avLst/>
          </a:prstGeom>
          <a:solidFill>
            <a:srgbClr val="3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Eval / Deploy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59" y="4224528"/>
            <a:ext cx="201168" cy="201168"/>
          </a:xfrm>
          <a:prstGeom prst="rect">
            <a:avLst/>
          </a:prstGeom>
          <a:solidFill>
            <a:srgbClr val="5C2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1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Calibration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6634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Zero data leakage: SMOTE applied inside CV folds only - never on held-out data</a:t>
            </a:r>
          </a:p>
          <a:p>
            <a:r>
              <a:rPr sz="1300" b="0">
                <a:solidFill>
                  <a:srgbClr val="404040"/>
                </a:solidFill>
              </a:rPr>
              <a:t>  &gt;&gt;  Optuna 200 trials, TPE Sampler + Median Pruner: Bayesian hyperparameter optimization</a:t>
            </a:r>
          </a:p>
          <a:p>
            <a:r>
              <a:rPr sz="1300" b="0">
                <a:solidFill>
                  <a:srgbClr val="404040"/>
                </a:solidFill>
              </a:rPr>
              <a:t>  &gt;&gt;  Threshold 0.22 selected via PR-curve max-F1 with business Expected Value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Feature Engineering  -  12 Domain-Driven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Engineered from raw data to capture behavioral and risk signals: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103120"/>
          <a:ext cx="11457431" cy="4398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9694"/>
                <a:gridCol w="6054740"/>
                <a:gridCol w="1862997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TenureGroup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Bucketed tenure: 0-6m, 6-12m, 12-24m, 24-48m, 48m+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IsNewCustomer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 flag: tenure &lt;= 6 months =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AvgMonthlySpend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TotalCharges / (tenure + 1)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SpendRatio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MonthlyCharges / (AvgMonthlySpend + 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Numeric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SpendAcceleration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MonthlyCharges - AvgMonthlySpend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NumServices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Count of active add-on services (max 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Numeric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HasProtectionBundle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OnlineSecurity AND DeviceProtection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HasStreamingBundle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StreamingTV AND StreamingMovies =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ContractRiskScore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Month-to-month=3, One year=1, Two year=0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Ordinal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HighRiskPayment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Electronic check payment =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FamilyStability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Partner OR Dependents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IsFiberCustomer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Fiber optic internet =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Binary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D7D31"/>
                </a:solidFill>
              </a:rPr>
              <a:t>Note: engineer_features() is identically replicated in both training pipeline and chatbot to ensure train-serve feature parity.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Handling Class Imbalance  (73:27 Ratio)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" y="1828800"/>
            <a:ext cx="3474720" cy="2560320"/>
          </a:xfrm>
          <a:prstGeom prst="ellipse">
            <a:avLst/>
          </a:prstGeom>
          <a:solidFill>
            <a:srgbClr val="F0F7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347472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2880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 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- Synthetic Minority Oversampling
- Applied INSIDE ImbPipeline
- Only within CV folds
- Zero leakage to validation data</a:t>
            </a:r>
          </a:p>
        </p:txBody>
      </p:sp>
      <p:sp>
        <p:nvSpPr>
          <p:cNvPr id="15" name="Oval 14"/>
          <p:cNvSpPr/>
          <p:nvPr/>
        </p:nvSpPr>
        <p:spPr>
          <a:xfrm>
            <a:off x="4187952" y="1828800"/>
            <a:ext cx="3474720" cy="2560320"/>
          </a:xfrm>
          <a:prstGeom prst="ellipse">
            <a:avLst/>
          </a:prstGeom>
          <a:solidFill>
            <a:srgbClr val="F0F7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828800"/>
            <a:ext cx="34747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182880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 Class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37744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- balanced class_weight on all estimators
- Penalizes minority misclassification
- Works alongside SMOTE</a:t>
            </a:r>
          </a:p>
        </p:txBody>
      </p:sp>
      <p:sp>
        <p:nvSpPr>
          <p:cNvPr id="19" name="Oval 18"/>
          <p:cNvSpPr/>
          <p:nvPr/>
        </p:nvSpPr>
        <p:spPr>
          <a:xfrm>
            <a:off x="8010144" y="1828800"/>
            <a:ext cx="3474720" cy="2560320"/>
          </a:xfrm>
          <a:prstGeom prst="ellipse">
            <a:avLst/>
          </a:prstGeom>
          <a:solidFill>
            <a:srgbClr val="F0F7FF"/>
          </a:solidFill>
          <a:ln>
            <a:solidFill>
              <a:srgbClr val="378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828800"/>
            <a:ext cx="3474720" cy="457200"/>
          </a:xfrm>
          <a:prstGeom prst="rect">
            <a:avLst/>
          </a:prstGeom>
          <a:solidFill>
            <a:srgbClr val="37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182880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 Threshold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37744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- Default threshold = 0.50
- Production threshold = 0.22
- Selected via PR-curve max-F1
- Reflects 10:1 cost asymmetry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Combined Effect: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377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All three strategies together provide complementary imbalance correction</a:t>
            </a:r>
          </a:p>
          <a:p>
            <a:r>
              <a:rPr sz="1300" b="0">
                <a:solidFill>
                  <a:srgbClr val="404040"/>
                </a:solidFill>
              </a:rPr>
              <a:t>  &gt;&gt;  SMOTE: synthetic sampling | Class weights: loss function | Threshold: decision boundary</a:t>
            </a:r>
          </a:p>
          <a:p>
            <a:r>
              <a:rPr sz="1300" b="0">
                <a:solidFill>
                  <a:srgbClr val="404040"/>
                </a:solidFill>
              </a:rPr>
              <a:t>  &gt;&gt;  Final threshold 0.22 maximizes Expected Value under 10:1 cost asymmetry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Model Development  -  Optuna Hyperparameter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Baseline Ladder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Logistic Regression (LR)  - linear baseline</a:t>
            </a:r>
          </a:p>
          <a:p>
            <a:r>
              <a:rPr sz="1300" b="0">
                <a:solidFill>
                  <a:srgbClr val="404040"/>
                </a:solidFill>
              </a:rPr>
              <a:t>  &gt;&gt;  Random Forest (RF)  - ensemble baseline</a:t>
            </a:r>
          </a:p>
          <a:p>
            <a:r>
              <a:rPr sz="1300" b="0">
                <a:solidFill>
                  <a:srgbClr val="404040"/>
                </a:solidFill>
              </a:rPr>
              <a:t>  &gt;&gt;  XGBoost (XGB)  - gradient boosting</a:t>
            </a:r>
          </a:p>
          <a:p>
            <a:r>
              <a:rPr sz="1300" b="0">
                <a:solidFill>
                  <a:srgbClr val="404040"/>
                </a:solidFill>
              </a:rPr>
              <a:t>  &gt;&gt;  LightGBM (LGBM)  - histogram-based gradient boost</a:t>
            </a:r>
          </a:p>
          <a:p>
            <a:r>
              <a:rPr sz="1300" b="0">
                <a:solidFill>
                  <a:srgbClr val="404040"/>
                </a:solidFill>
              </a:rPr>
              <a:t>  &gt;&gt;  CatBoost  - categorical-native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Cross-Validation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5020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RepeatedStratifiedKFold: 5 folds x 2 repeats = 10 evaluations</a:t>
            </a:r>
          </a:p>
          <a:p>
            <a:r>
              <a:rPr sz="1300" b="0">
                <a:solidFill>
                  <a:srgbClr val="404040"/>
                </a:solidFill>
              </a:rPr>
              <a:t>  &gt;&gt;  Lower variance than standard K-Fold</a:t>
            </a:r>
          </a:p>
          <a:p>
            <a:r>
              <a:rPr sz="1300" b="0">
                <a:solidFill>
                  <a:srgbClr val="404040"/>
                </a:solidFill>
              </a:rPr>
              <a:t>  &gt;&gt;  Stratification preserves 73:27 class ratio in every fold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35040" y="1737360"/>
          <a:ext cx="548640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Optuna Setting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Sampler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TPE (Bayesian search)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Pruner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Median Pruner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200 per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Objective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Average Precision (AP)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5 folds x 2 repeats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SMOTE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Inside CV folds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fANOVA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Why Average Precision?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AP is more sensitive than ROC-AUC under class imbalance. It focuses on the minority (churn) class across all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Ensemble Methods &amp; Probability Calibration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Three Ensemble Strategies Evaluated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148840"/>
            <a:ext cx="3566160" cy="1463040"/>
          </a:xfrm>
          <a:prstGeom prst="ellipse">
            <a:avLst/>
          </a:prstGeom>
          <a:solidFill>
            <a:srgbClr val="F0F7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356616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4884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Soft Voting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Probability averaging across all
base models. Simple, robust,
low variance.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2148840"/>
            <a:ext cx="3566160" cy="1463040"/>
          </a:xfrm>
          <a:prstGeom prst="ellipse">
            <a:avLst/>
          </a:prstGeom>
          <a:solidFill>
            <a:srgbClr val="F0F7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148840"/>
            <a:ext cx="35661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14884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Single Best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Top individual model from Optuna.
Lightest inference.
Highest Recall.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2148840"/>
            <a:ext cx="3566160" cy="1463040"/>
          </a:xfrm>
          <a:prstGeom prst="ellipse">
            <a:avLst/>
          </a:prstGeom>
          <a:solidFill>
            <a:srgbClr val="F0F7FF"/>
          </a:solidFill>
          <a:ln>
            <a:solidFill>
              <a:srgbClr val="5C2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2148840"/>
            <a:ext cx="3566160" cy="384048"/>
          </a:xfrm>
          <a:prstGeom prst="rect">
            <a:avLst/>
          </a:prstGeom>
          <a:solidFill>
            <a:srgbClr val="5C2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14884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5786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Meta-learner (Logistic Regression)
trained on base-model
out-of-fold predictions.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Probability Calibration - 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33087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Method: Isotonic Regression on held-out validation set</a:t>
            </a:r>
          </a:p>
          <a:p>
            <a:r>
              <a:rPr sz="1300" b="0">
                <a:solidFill>
                  <a:srgbClr val="404040"/>
                </a:solidFill>
              </a:rPr>
              <a:t>  &gt;&gt;  Ensures predicted 70% probability = 70% empirical churn rate (reliable for business)</a:t>
            </a:r>
          </a:p>
          <a:p>
            <a:r>
              <a:rPr sz="1300" b="0">
                <a:solidFill>
                  <a:srgbClr val="404040"/>
                </a:solidFill>
              </a:rPr>
              <a:t>  &gt;&gt;  Brier Score improvement tracked; reliability diagrams generated pre/post calibration</a:t>
            </a:r>
          </a:p>
          <a:p>
            <a:r>
              <a:rPr sz="1300" b="0">
                <a:solidFill>
                  <a:srgbClr val="404040"/>
                </a:solidFill>
              </a:rPr>
              <a:t>  &gt;&gt;  Platt Scaling tested but Isotonic performs better for n &gt; 1,000 samples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35"/>
                </a:solidFill>
              </a:rPr>
              <a:t>WINNER: Single Best (Calibrated) - highest Recall (0.825) + F1 (0.636) + EV per user ($0.155)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Results &amp; Model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Calibrated Model Performance on Test Set  (Threshold = 0.22)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084831"/>
          <a:ext cx="11457428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244"/>
                <a:gridCol w="1397247"/>
                <a:gridCol w="1862997"/>
                <a:gridCol w="1304097"/>
                <a:gridCol w="1117798"/>
                <a:gridCol w="1117798"/>
                <a:gridCol w="1397247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 Precision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EV/User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* Single Best (Cal.)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0.825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0.636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$0.155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Soft Voting (Cal.)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$0.137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/>
                        <a:t>Stacking (Cal.)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0.850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/>
                        <a:t>$0.141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3566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Final Production Model Scorecard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50791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08322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0.8503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4005072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4050791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Avg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4408322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0.6419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4005072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4050791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4408322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0.825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24544" y="4005072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4050791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F1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4" y="4408322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0.636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66359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MCC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23890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0.490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5120640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5166359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Brier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5523890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71616" y="5120640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17336" y="5166359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EV /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17336" y="5523890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$0.15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24544" y="5120640"/>
            <a:ext cx="2633472" cy="96012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0264" y="5166359"/>
            <a:ext cx="2542032" cy="403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Total 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0264" y="5523890"/>
            <a:ext cx="2542032" cy="5568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$164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910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Production Threshold = 0.22  |  Test Set = 1,057 customers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SHAP Explainability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Top 5 Churn Drivers (SHAP)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303520" cy="65836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13716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6712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#1  ContractRiskScore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871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Month-to-month churns 3x vs 2-year contracts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5303520" cy="658368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98648"/>
            <a:ext cx="137160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1693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#2  IsNewCustomer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369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Tenure &lt;= 6 months = highest individual 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48456"/>
            <a:ext cx="5303520" cy="658368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48456"/>
            <a:ext cx="137160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6674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#3  HighRiskPayment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867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Electronic check strongly correlates w/ churn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98264"/>
            <a:ext cx="5303520" cy="658368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398264"/>
            <a:ext cx="137160" cy="6583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165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#4  IsFiberCustomer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365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Fiber customers churn despite premium pricing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48072"/>
            <a:ext cx="5303520" cy="658368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148072"/>
            <a:ext cx="137160" cy="6583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1663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#5  NumServices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4864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Low add-on engagement = higher churn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Analysis Types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148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Global Explainability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487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Feature importance bar chart
Beeswarm plot across all predictions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172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Local Explainability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51129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Waterfall plot per customer
Force plot visualization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1970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Dependence Plots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53542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Non-linear feature effects
Feature interaction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2212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Importance Triangulation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5595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Built-in (gain) vs Permutation
vs SHAP - cross-validated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Deployment  -  AI-Powered Streamlit Chatbot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Chatbot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19 guided questions - one at a time</a:t>
            </a:r>
          </a:p>
          <a:p>
            <a:r>
              <a:rPr sz="1300" b="0">
                <a:solidFill>
                  <a:srgbClr val="404040"/>
                </a:solidFill>
              </a:rPr>
              <a:t>  &gt;&gt;  Clickable option buttons + numeric inputs</a:t>
            </a:r>
          </a:p>
          <a:p>
            <a:r>
              <a:rPr sz="1300" b="0">
                <a:solidFill>
                  <a:srgbClr val="404040"/>
                </a:solidFill>
              </a:rPr>
              <a:t>  &gt;&gt;  Real-time progress bar</a:t>
            </a:r>
          </a:p>
          <a:p>
            <a:r>
              <a:rPr sz="1300" b="0">
                <a:solidFill>
                  <a:srgbClr val="404040"/>
                </a:solidFill>
              </a:rPr>
              <a:t>  &gt;&gt;  Color-coded result card (Churn / No-Churn)</a:t>
            </a:r>
          </a:p>
          <a:p>
            <a:r>
              <a:rPr sz="1300" b="0">
                <a:solidFill>
                  <a:srgbClr val="404040"/>
                </a:solidFill>
              </a:rPr>
              <a:t>  &gt;&gt;  AI explanation via Claude API (4-5 sentences)</a:t>
            </a:r>
          </a:p>
          <a:p>
            <a:r>
              <a:rPr sz="1300" b="0">
                <a:solidFill>
                  <a:srgbClr val="404040"/>
                </a:solidFill>
              </a:rPr>
              <a:t>  &gt;&gt;  Customer summary table</a:t>
            </a:r>
          </a:p>
          <a:p>
            <a:r>
              <a:rPr sz="1300" b="0">
                <a:solidFill>
                  <a:srgbClr val="404040"/>
                </a:solidFill>
              </a:rPr>
              <a:t>  &gt;&gt;  Multiple predictions per session</a:t>
            </a:r>
          </a:p>
          <a:p>
            <a:r>
              <a:rPr sz="1300" b="0">
                <a:solidFill>
                  <a:srgbClr val="404040"/>
                </a:solidFill>
              </a:rPr>
              <a:t>  &gt;&gt;  Rule-based fallback if API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Inference Pipeline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2148840"/>
            <a:ext cx="5303520" cy="68580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167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6712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19 guided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980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4B5"/>
                </a:solidFill>
              </a:rPr>
              <a:t>v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2990088"/>
            <a:ext cx="5303520" cy="685800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008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0837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engineer_features() x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393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4B5"/>
                </a:solidFill>
              </a:rPr>
              <a:t>v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3831336"/>
            <a:ext cx="5303520" cy="68580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849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8496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predict_proba() @ 0.22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4805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D7D31"/>
                </a:solidFill>
              </a:rPr>
              <a:t>v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4672584"/>
            <a:ext cx="5303520" cy="685800"/>
          </a:xfrm>
          <a:prstGeom prst="ellipse">
            <a:avLst/>
          </a:prstGeom>
          <a:solidFill>
            <a:srgbClr val="5C2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690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Claude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690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Explanation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32180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C278A"/>
                </a:solidFill>
              </a:rPr>
              <a:t>v</a:t>
            </a:r>
          </a:p>
        </p:txBody>
      </p:sp>
      <p:sp>
        <p:nvSpPr>
          <p:cNvPr id="30" name="Oval 29"/>
          <p:cNvSpPr/>
          <p:nvPr/>
        </p:nvSpPr>
        <p:spPr>
          <a:xfrm>
            <a:off x="6035040" y="5513832"/>
            <a:ext cx="5303520" cy="685800"/>
          </a:xfrm>
          <a:prstGeom prst="ellipse">
            <a:avLst/>
          </a:prstGeom>
          <a:solidFill>
            <a:srgbClr val="3786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5321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Probability + Explanation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66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Deployment Artifacts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5559552"/>
          <a:ext cx="11457431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378"/>
                <a:gridCol w="7791053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Artifact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churn_model.pkl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Serialized pipeline via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model_card.json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Metrics, threshold, feature list, training 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Drift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Feature distribution tracking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/>
                        <a:t>chatbot.py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Streamlit app - run: streamlit run chatbot.py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114574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Conclusion &amp; Future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9344"/>
            <a:ext cx="11457432" cy="411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Key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  &gt;&gt;  Production-grade pipeline: zero data leakage, SMOTE inside CV folds only</a:t>
            </a:r>
          </a:p>
          <a:p>
            <a:r>
              <a:rPr sz="1400" b="0">
                <a:solidFill>
                  <a:srgbClr val="404040"/>
                </a:solidFill>
              </a:rPr>
              <a:t>  &gt;&gt;  Optuna Bayesian optimization: 200 trials, Avg Precision objective, TPE + MedianPruner</a:t>
            </a:r>
          </a:p>
          <a:p>
            <a:r>
              <a:rPr sz="1400" b="0">
                <a:solidFill>
                  <a:srgbClr val="404040"/>
                </a:solidFill>
              </a:rPr>
              <a:t>  &gt;&gt;  Business-cost-aware design: 10:1 cost ratio -&gt; threshold 0.22 -&gt; Recall = 0.825</a:t>
            </a:r>
          </a:p>
          <a:p>
            <a:r>
              <a:rPr sz="1400" b="0">
                <a:solidFill>
                  <a:srgbClr val="404040"/>
                </a:solidFill>
              </a:rPr>
              <a:t>  &gt;&gt;  Isotonic calibration: statistically reliable probability estimates</a:t>
            </a:r>
          </a:p>
          <a:p>
            <a:r>
              <a:rPr sz="1400" b="0">
                <a:solidFill>
                  <a:srgbClr val="404040"/>
                </a:solidFill>
              </a:rPr>
              <a:t>  &gt;&gt;  SHAP triangulated explainability: global + local + dependence + importance triangulation</a:t>
            </a:r>
          </a:p>
          <a:p>
            <a:r>
              <a:rPr sz="1400" b="0">
                <a:solidFill>
                  <a:srgbClr val="404040"/>
                </a:solidFill>
              </a:rPr>
              <a:t>  &gt;&gt;  AI-powered chatbot: conversational interface with Claude API explanations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26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19472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</a:rPr>
              <a:t>  &gt;&gt;  Online learning for concept drift adaptation in production</a:t>
            </a:r>
          </a:p>
          <a:p>
            <a:r>
              <a:rPr sz="1300" b="0">
                <a:solidFill>
                  <a:srgbClr val="404040"/>
                </a:solidFill>
              </a:rPr>
              <a:t>  &gt;&gt;  Richer behavioral features: call logs, support tickets, app usage</a:t>
            </a:r>
          </a:p>
          <a:p>
            <a:r>
              <a:rPr sz="1300" b="0">
                <a:solidFill>
                  <a:srgbClr val="404040"/>
                </a:solidFill>
              </a:rPr>
              <a:t>  &gt;&gt;  Multi-objective optimization incorporating fairness constraints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26480"/>
            <a:ext cx="2606040" cy="68580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172200"/>
            <a:ext cx="25146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14516"/>
            <a:ext cx="2514600" cy="397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26480"/>
            <a:ext cx="2606040" cy="68580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6172200"/>
            <a:ext cx="25146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6414516"/>
            <a:ext cx="2514600" cy="397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0.825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6126480"/>
            <a:ext cx="2606040" cy="68580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6172200"/>
            <a:ext cx="25146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6414516"/>
            <a:ext cx="2514600" cy="397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0.636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6126480"/>
            <a:ext cx="2606040" cy="685800"/>
          </a:xfrm>
          <a:prstGeom prst="rect">
            <a:avLst/>
          </a:prstGeom>
          <a:solidFill>
            <a:srgbClr val="BDD7EE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6172200"/>
            <a:ext cx="25146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F497D"/>
                </a:solidFill>
              </a:rPr>
              <a:t>EV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6414516"/>
            <a:ext cx="2514600" cy="397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F497D"/>
                </a:solidFill>
              </a:rPr>
              <a:t>$164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116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Presentation on  Title of the Mini Project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chavali</dc:creator>
  <cp:lastModifiedBy>priya chavali</cp:lastModifiedBy>
  <cp:revision>3</cp:revision>
  <dcterms:created xsi:type="dcterms:W3CDTF">2026-03-06T06:52:14Z</dcterms:created>
  <dcterms:modified xsi:type="dcterms:W3CDTF">2026-03-06T08:26:43Z</dcterms:modified>
</cp:coreProperties>
</file>